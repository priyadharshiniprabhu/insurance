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502920"/>
            <a:ext cx="2926080" cy="2926080"/>
          </a:xfrm>
          <a:prstGeom prst="ellipse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55480" y="1554480"/>
            <a:ext cx="2057400" cy="20574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051560"/>
            <a:ext cx="7680960" cy="1325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INSURANCE RENEWAL
&amp; NOTIFICATION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06040"/>
            <a:ext cx="4572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AAE0E2"/>
                </a:solidFill>
                <a:latin typeface="Aptos"/>
              </a:rPr>
              <a:t>POC Project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46120"/>
            <a:ext cx="66751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DCE7F1"/>
                </a:solidFill>
                <a:latin typeface="Aptos"/>
              </a:rPr>
              <a:t>A resilient policy lifecycle with proactive renewal reminders,
controlled delivery, recovery paths, and operational reporting.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956048"/>
            <a:ext cx="2148840" cy="475488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5102352"/>
            <a:ext cx="1901952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PROJECT REVIEW • POC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989320"/>
            <a:ext cx="41148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A6BBCF"/>
                </a:solidFill>
                <a:latin typeface="Aptos"/>
              </a:rPr>
              <a:t>Implemented capability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A6BBCF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Why a renewal-focused insurance workflow is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00200"/>
            <a:ext cx="104698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D1F36"/>
                </a:solidFill>
                <a:latin typeface="Aptos"/>
              </a:rPr>
              <a:t>Insurance policy renewals are easy to miss when expiry tracking, customer reminders, delivery failures, and operational reporting are handled separately.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6032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560320"/>
            <a:ext cx="73152" cy="2331720"/>
          </a:xfrm>
          <a:prstGeom prst="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2491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Customer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127248"/>
            <a:ext cx="2898648" cy="163677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Customers may not receive timely renewal reminders across their preferred communication channels.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256032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62272" y="2560320"/>
            <a:ext cx="73152" cy="2331720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272491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Process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3127248"/>
            <a:ext cx="2898648" cy="163677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Duplicate reminders, missed grace periods, and unclear policy state can create inconsistent outcomes.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74736" y="256032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74736" y="2560320"/>
            <a:ext cx="73152" cy="233172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72491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Operational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3127248"/>
            <a:ext cx="2898648" cy="163677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Failed notifications need controlled retries, recovery visibility, and measurable reporting.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32120"/>
            <a:ext cx="10241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009CA6"/>
                </a:solidFill>
                <a:latin typeface="Aptos"/>
              </a:rPr>
              <a:t>POC objective: demonstrate a reliable, traceable, and recoverable renewal journey from policy creation through reporting.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The implementation uses a focused Java and Spring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6916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691640"/>
            <a:ext cx="73152" cy="123444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5623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Java 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258568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Application language and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6916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66160" y="1691640"/>
            <a:ext cx="73152" cy="1234440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85623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Spring Boot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258568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Application foundation and dependency wiring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79" y="16916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79" y="1691640"/>
            <a:ext cx="73152" cy="1234440"/>
          </a:xfrm>
          <a:prstGeom prst="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185623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Spring Web MVC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258568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REST API exposure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3999" y="16916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3999" y="1691640"/>
            <a:ext cx="73152" cy="1234440"/>
          </a:xfrm>
          <a:prstGeom prst="rect">
            <a:avLst/>
          </a:prstGeom>
          <a:solidFill>
            <a:srgbClr val="2A9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1" y="185623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Spring Data JPA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1" y="2258568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Persistence and repository abstraction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56616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566160"/>
            <a:ext cx="73152" cy="1234440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73075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Spring Batch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4133087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Chunk-oriented processing readiness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356616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66160" y="3566160"/>
            <a:ext cx="73152" cy="1234440"/>
          </a:xfrm>
          <a:prstGeom prst="rect">
            <a:avLst/>
          </a:prstGeom>
          <a:solidFill>
            <a:srgbClr val="EE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373075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H2 Database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4133087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File-backed relational persistence for the POC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356616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79" y="3566160"/>
            <a:ext cx="73152" cy="123444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373075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Maven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4133087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Build and dependency management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3999" y="356616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3999" y="3566160"/>
            <a:ext cx="73152" cy="1234440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54311" y="3730752"/>
            <a:ext cx="19842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Bean Validation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1" y="4133087"/>
            <a:ext cx="1984248" cy="5394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7697E"/>
                </a:solidFill>
                <a:latin typeface="Aptos"/>
              </a:rPr>
              <a:t>Request and domain input validation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71500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50" b="1">
                <a:solidFill>
                  <a:srgbClr val="0D1F36"/>
                </a:solidFill>
                <a:latin typeface="Aptos"/>
              </a:rPr>
              <a:t>The stack supports a lightweight POC today while leaving clear paths for stronger delivery integrations and production-grade infrastructure.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What this POC demonstrates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106984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0D1F36"/>
                </a:solidFill>
                <a:latin typeface="Aptos"/>
              </a:rPr>
              <a:t>The solution connects the complete renewal journey—from policy capture to customer communication and operational recovery.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3172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331720"/>
            <a:ext cx="73152" cy="1115568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496312"/>
            <a:ext cx="29900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Manage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898648"/>
            <a:ext cx="2990088" cy="42062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40" b="0">
                <a:solidFill>
                  <a:srgbClr val="57697E"/>
                </a:solidFill>
                <a:latin typeface="Aptos"/>
              </a:rPr>
              <a:t>Create, validate, identify, retrieve, and renew policies through RESTful services.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33172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2331720"/>
            <a:ext cx="73152" cy="111556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2496312"/>
            <a:ext cx="29900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898648"/>
            <a:ext cx="2990088" cy="42062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40" b="0">
                <a:solidFill>
                  <a:srgbClr val="57697E"/>
                </a:solidFill>
                <a:latin typeface="Aptos"/>
              </a:rPr>
              <a:t>Evaluate policy expiry windows and generate the right reminder tier without duplicates.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2331720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2331720"/>
            <a:ext cx="73152" cy="1115568"/>
          </a:xfrm>
          <a:prstGeom prst="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496312"/>
            <a:ext cx="29900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Deliver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898648"/>
            <a:ext cx="2990088" cy="42062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40" b="0">
                <a:solidFill>
                  <a:srgbClr val="57697E"/>
                </a:solidFill>
                <a:latin typeface="Aptos"/>
              </a:rPr>
              <a:t>Queue email and SMS work, record every attempt, and retry transient failures.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749039"/>
            <a:ext cx="73152" cy="1115568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913631"/>
            <a:ext cx="29900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Recover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315968"/>
            <a:ext cx="2990088" cy="42062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40" b="0">
                <a:solidFill>
                  <a:srgbClr val="57697E"/>
                </a:solidFill>
                <a:latin typeface="Aptos"/>
              </a:rPr>
              <a:t>Move exhausted events to a dead-letter path and safely requeue them for another cycle.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749039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3749039"/>
            <a:ext cx="73152" cy="1115568"/>
          </a:xfrm>
          <a:prstGeom prst="rect">
            <a:avLst/>
          </a:prstGeom>
          <a:solidFill>
            <a:srgbClr val="2A9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2" y="3913631"/>
            <a:ext cx="29900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4315968"/>
            <a:ext cx="2990088" cy="42062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40" b="0">
                <a:solidFill>
                  <a:srgbClr val="57697E"/>
                </a:solidFill>
                <a:latin typeface="Aptos"/>
              </a:rPr>
              <a:t>Produce operational summaries with policy, notification, and dead-letter metrics.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3375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73152" cy="1115568"/>
          </a:xfrm>
          <a:prstGeom prst="rect">
            <a:avLst/>
          </a:prstGeom>
          <a:solidFill>
            <a:srgbClr val="EE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3913631"/>
            <a:ext cx="29900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Operate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315968"/>
            <a:ext cx="2990088" cy="42062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40" b="0">
                <a:solidFill>
                  <a:srgbClr val="57697E"/>
                </a:solidFill>
                <a:latin typeface="Aptos"/>
              </a:rPr>
              <a:t>Support recurring execution plus Spring Batch processing patterns for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Clear separation of responsibilities across the processing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20240"/>
            <a:ext cx="2057400" cy="1234440"/>
          </a:xfrm>
          <a:prstGeom prst="roundRect">
            <a:avLst/>
          </a:prstGeom>
          <a:solidFill>
            <a:srgbClr val="2066AA"/>
          </a:solidFill>
          <a:ln>
            <a:solidFill>
              <a:srgbClr val="20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API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45059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Policy creation
Renewal
Details
DLQ 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920240"/>
            <a:ext cx="2057400" cy="1234440"/>
          </a:xfrm>
          <a:prstGeom prst="roundRect">
            <a:avLst/>
          </a:prstGeom>
          <a:solidFill>
            <a:srgbClr val="009CA6"/>
          </a:solidFill>
          <a:ln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12140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Domain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45059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Validation
Lifecycle rules
Renewal logic
Recovery logic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1920240"/>
            <a:ext cx="2057400" cy="1234440"/>
          </a:xfrm>
          <a:prstGeom prst="roundRect">
            <a:avLst/>
          </a:prstGeom>
          <a:solidFill>
            <a:srgbClr val="EE853A"/>
          </a:solidFill>
          <a:ln>
            <a:solidFill>
              <a:srgbClr val="EE8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212140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Persistence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245059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Policies
Outbox
Logs
History
DLQ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920240"/>
            <a:ext cx="2057400" cy="1234440"/>
          </a:xfrm>
          <a:prstGeom prst="roundRect">
            <a:avLst/>
          </a:prstGeom>
          <a:solidFill>
            <a:srgbClr val="2A9965"/>
          </a:solidFill>
          <a:ln>
            <a:solidFill>
              <a:srgbClr val="2A99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212140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45059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Recurring jobs
Batch steps
Reports
Summary logs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34640" y="2542032"/>
            <a:ext cx="548640" cy="0"/>
          </a:xfrm>
          <a:prstGeom prst="line">
            <a:avLst/>
          </a:prstGeom>
          <a:ln w="25400">
            <a:solidFill>
              <a:srgbClr val="009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86400" y="2542032"/>
            <a:ext cx="548640" cy="0"/>
          </a:xfrm>
          <a:prstGeom prst="line">
            <a:avLst/>
          </a:prstGeom>
          <a:ln w="25400">
            <a:solidFill>
              <a:srgbClr val="009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138160" y="2542032"/>
            <a:ext cx="548640" cy="0"/>
          </a:xfrm>
          <a:prstGeom prst="line">
            <a:avLst/>
          </a:prstGeom>
          <a:ln w="25400">
            <a:solidFill>
              <a:srgbClr val="009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78992" y="3913632"/>
            <a:ext cx="996696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0D1F36"/>
                </a:solidFill>
                <a:latin typeface="Aptos"/>
              </a:rPr>
              <a:t>The design keeps customer-facing actions, business rules, data state, and operational processing independently understandable.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4663440"/>
            <a:ext cx="2560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34440" y="4663440"/>
            <a:ext cx="73152" cy="96012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4752" y="4828031"/>
            <a:ext cx="2212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D1F36"/>
                </a:solidFill>
                <a:latin typeface="Aptos"/>
              </a:rPr>
              <a:t>RESTful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5230368"/>
            <a:ext cx="2212848" cy="265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57697E"/>
                </a:solidFill>
                <a:latin typeface="Aptos"/>
              </a:rPr>
              <a:t>Simple resource-oriented operations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4663440"/>
            <a:ext cx="2560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60" y="4663440"/>
            <a:ext cx="73152" cy="960120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62272" y="4828031"/>
            <a:ext cx="2212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D1F36"/>
                </a:solidFill>
                <a:latin typeface="Aptos"/>
              </a:rPr>
              <a:t>Transactional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5230368"/>
            <a:ext cx="2212848" cy="265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57697E"/>
                </a:solidFill>
                <a:latin typeface="Aptos"/>
              </a:rPr>
              <a:t>State changes remain consistent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4663440"/>
            <a:ext cx="2560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69480" y="4663440"/>
            <a:ext cx="73152" cy="960120"/>
          </a:xfrm>
          <a:prstGeom prst="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4828031"/>
            <a:ext cx="2212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D1F36"/>
                </a:solidFill>
                <a:latin typeface="Aptos"/>
              </a:rPr>
              <a:t>Observable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5230368"/>
            <a:ext cx="2212848" cy="265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57697E"/>
                </a:solidFill>
                <a:latin typeface="Aptos"/>
              </a:rPr>
              <a:t>Attempts and outcomes are retained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Policy lifecycle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Core policy capabilities implemented in the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600200"/>
            <a:ext cx="324612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600200"/>
            <a:ext cx="73152" cy="420624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76479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Policy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2167128"/>
            <a:ext cx="2898648" cy="35112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• Accepts holder, contact, plan, premium, and coverage dates
• Generates a unique policy identifier
• Prevents conflicting customer contact details
• Assigns the initial lifecycle state from the coverage 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1600200"/>
            <a:ext cx="324612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62272" y="1600200"/>
            <a:ext cx="73152" cy="4206240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76479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Policy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2167128"/>
            <a:ext cx="2898648" cy="35112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• Returns policy details by identifier
• Includes policy type, premium, dates, and current state
• Includes notification history with channel, tier, event time, and outcome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2" y="1600200"/>
            <a:ext cx="324612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2" y="1600200"/>
            <a:ext cx="73152" cy="4206240"/>
          </a:xfrm>
          <a:prstGeom prst="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1624" y="176479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Policy renewal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2167128"/>
            <a:ext cx="2898648" cy="35112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• Supports eligible expired or renewal-due policies
• Enforces the grace-period rule
• Requires a non-regressive new end date
• Records renewal history and clears pending reminders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Proactive renewal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Reminder decisions are based on policy state and expiry proximity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D1F36"/>
                </a:solidFill>
                <a:latin typeface="Aptos"/>
              </a:rPr>
              <a:t>Reminder ladder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057400"/>
            <a:ext cx="2240280" cy="1234440"/>
          </a:xfrm>
          <a:prstGeom prst="roundRect">
            <a:avLst/>
          </a:prstGeom>
          <a:solidFill>
            <a:srgbClr val="2066AA"/>
          </a:solidFill>
          <a:ln>
            <a:solidFill>
              <a:srgbClr val="20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58568"/>
            <a:ext cx="2057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30-day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587752"/>
            <a:ext cx="198424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Early awareness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44952" y="2679192"/>
            <a:ext cx="438912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66160" y="2057400"/>
            <a:ext cx="2240280" cy="1234440"/>
          </a:xfrm>
          <a:prstGeom prst="roundRect">
            <a:avLst/>
          </a:prstGeom>
          <a:solidFill>
            <a:srgbClr val="009CA6"/>
          </a:solidFill>
          <a:ln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2258568"/>
            <a:ext cx="2057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15-day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587752"/>
            <a:ext cx="198424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Action window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3872" y="2679192"/>
            <a:ext cx="438911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79" y="2057400"/>
            <a:ext cx="2240280" cy="1234440"/>
          </a:xfrm>
          <a:prstGeom prst="roundRect">
            <a:avLst/>
          </a:prstGeom>
          <a:solidFill>
            <a:srgbClr val="EE853A"/>
          </a:solidFill>
          <a:ln>
            <a:solidFill>
              <a:srgbClr val="EE8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19" y="2258568"/>
            <a:ext cx="2057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7-day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5" y="2587752"/>
            <a:ext cx="198424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Urgent reminder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622792" y="2679192"/>
            <a:ext cx="438912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3999" y="2057400"/>
            <a:ext cx="2240280" cy="1234440"/>
          </a:xfrm>
          <a:prstGeom prst="roundRect">
            <a:avLst/>
          </a:prstGeom>
          <a:solidFill>
            <a:srgbClr val="CD484B"/>
          </a:solidFill>
          <a:ln>
            <a:solidFill>
              <a:srgbClr val="CD4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39" y="2258568"/>
            <a:ext cx="2057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Overdue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5" y="2587752"/>
            <a:ext cx="198424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Grace-period follow-up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977639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977639"/>
            <a:ext cx="73152" cy="1325880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4142231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State transition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4544568"/>
            <a:ext cx="2898648" cy="6309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30" b="0">
                <a:solidFill>
                  <a:srgbClr val="57697E"/>
                </a:solidFill>
                <a:latin typeface="Aptos"/>
              </a:rPr>
              <a:t>Active policies become renewal-due when a reminder is created.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3977639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62272" y="3977639"/>
            <a:ext cx="73152" cy="132588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2584" y="4142231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Duplicate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2584" y="4544568"/>
            <a:ext cx="2898648" cy="6309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30" b="0">
                <a:solidFill>
                  <a:srgbClr val="57697E"/>
                </a:solidFill>
                <a:latin typeface="Aptos"/>
              </a:rPr>
              <a:t>Existing policy–tier–channel combinations are skipped.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3977639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47304" y="3977639"/>
            <a:ext cx="73152" cy="1325880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57616" y="4142231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D1F36"/>
                </a:solidFill>
                <a:latin typeface="Aptos"/>
              </a:rPr>
              <a:t>Lapse handling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7616" y="4544568"/>
            <a:ext cx="2898648" cy="6309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30" b="0">
                <a:solidFill>
                  <a:srgbClr val="57697E"/>
                </a:solidFill>
                <a:latin typeface="Aptos"/>
              </a:rPr>
              <a:t>Policies beyond the allowed grace period move to lapsed.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Notification delivery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Outbox-first processing makes delivery traceable and retryable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DELIVERY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08</a:t>
            </a:r>
          </a:p>
        </p:txBody>
      </p:sp>
      <p:sp>
        <p:nvSpPr>
          <p:cNvPr id="10" name="Oval 9"/>
          <p:cNvSpPr/>
          <p:nvPr/>
        </p:nvSpPr>
        <p:spPr>
          <a:xfrm>
            <a:off x="1280160" y="1783080"/>
            <a:ext cx="475488" cy="475488"/>
          </a:xfrm>
          <a:prstGeom prst="ellipse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23160"/>
            <a:ext cx="1965960" cy="1417320"/>
          </a:xfrm>
          <a:prstGeom prst="roundRect">
            <a:avLst/>
          </a:prstGeom>
          <a:solidFill>
            <a:srgbClr val="2066AA"/>
          </a:solidFill>
          <a:ln>
            <a:solidFill>
              <a:srgbClr val="20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24328"/>
            <a:ext cx="1783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Outbox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953512"/>
            <a:ext cx="1709928" cy="7955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Email + SMS records
created as PENDING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42032" y="3127248"/>
            <a:ext cx="256032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584448" y="1783080"/>
            <a:ext cx="475488" cy="475488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1901952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52928" y="2423160"/>
            <a:ext cx="1965960" cy="1417320"/>
          </a:xfrm>
          <a:prstGeom prst="roundRect">
            <a:avLst/>
          </a:prstGeom>
          <a:solidFill>
            <a:srgbClr val="009CA6"/>
          </a:solidFill>
          <a:ln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44368" y="2624328"/>
            <a:ext cx="1783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Dispatch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0944" y="2953512"/>
            <a:ext cx="1709928" cy="7955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Pending events
processed in batches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127248"/>
            <a:ext cx="256032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888736" y="1783080"/>
            <a:ext cx="475488" cy="475488"/>
          </a:xfrm>
          <a:prstGeom prst="ellipse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1901952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57216" y="2423160"/>
            <a:ext cx="1965960" cy="1417320"/>
          </a:xfrm>
          <a:prstGeom prst="roundRect">
            <a:avLst/>
          </a:prstGeom>
          <a:solidFill>
            <a:srgbClr val="EE853A"/>
          </a:solidFill>
          <a:ln>
            <a:solidFill>
              <a:srgbClr val="EE8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8655" y="2624328"/>
            <a:ext cx="1783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Outcome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2953512"/>
            <a:ext cx="1709928" cy="7955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SENT, FAILED, or
gateway timeout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0608" y="3127248"/>
            <a:ext cx="256032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193024" y="1783080"/>
            <a:ext cx="475488" cy="475488"/>
          </a:xfrm>
          <a:prstGeom prst="ellipse">
            <a:avLst/>
          </a:prstGeom>
          <a:solidFill>
            <a:srgbClr val="2A9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93024" y="1901952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61504" y="2423160"/>
            <a:ext cx="1965960" cy="1417320"/>
          </a:xfrm>
          <a:prstGeom prst="roundRect">
            <a:avLst/>
          </a:prstGeom>
          <a:solidFill>
            <a:srgbClr val="2A9965"/>
          </a:solidFill>
          <a:ln>
            <a:solidFill>
              <a:srgbClr val="2A99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2944" y="2624328"/>
            <a:ext cx="1783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953512"/>
            <a:ext cx="1709928" cy="7955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Every attempt is
written to history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54896" y="3127248"/>
            <a:ext cx="256032" cy="0"/>
          </a:xfrm>
          <a:prstGeom prst="line">
            <a:avLst/>
          </a:prstGeom>
          <a:ln w="25400">
            <a:solidFill>
              <a:srgbClr val="DBE4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497312" y="1783080"/>
            <a:ext cx="475488" cy="475488"/>
          </a:xfrm>
          <a:prstGeom prst="ellipse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7312" y="1901952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65792" y="2423160"/>
            <a:ext cx="1965960" cy="1417320"/>
          </a:xfrm>
          <a:prstGeom prst="roundRect">
            <a:avLst/>
          </a:prstGeom>
          <a:solidFill>
            <a:srgbClr val="CD484B"/>
          </a:solidFill>
          <a:ln>
            <a:solidFill>
              <a:srgbClr val="CD4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57232" y="2624328"/>
            <a:ext cx="1783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Recovery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953512"/>
            <a:ext cx="1709928" cy="7955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Repeated failures
move to DLQ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754880"/>
            <a:ext cx="103327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0D1F36"/>
                </a:solidFill>
                <a:latin typeface="Aptos"/>
              </a:rPr>
              <a:t>Channel coverage: EMAIL and SMS • Batch size is bounded • State is persisted after each attempt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8800" y="5321808"/>
            <a:ext cx="3840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28800" y="5321808"/>
            <a:ext cx="73152" cy="685800"/>
          </a:xfrm>
          <a:prstGeom prst="rect">
            <a:avLst/>
          </a:prstGeom>
          <a:solidFill>
            <a:srgbClr val="2A9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39112" y="5486400"/>
            <a:ext cx="349300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D1F36"/>
                </a:solidFill>
                <a:latin typeface="Aptos"/>
              </a:rPr>
              <a:t>Success path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39112" y="5888736"/>
            <a:ext cx="3493008" cy="-91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57697E"/>
                </a:solidFill>
                <a:latin typeface="Aptos"/>
              </a:rPr>
              <a:t>Delivered event is removed from pending work.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5321808"/>
            <a:ext cx="38404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6520" y="5321808"/>
            <a:ext cx="73152" cy="685800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56832" y="5486400"/>
            <a:ext cx="349300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D1F36"/>
                </a:solidFill>
                <a:latin typeface="Aptos"/>
              </a:rPr>
              <a:t>Failure path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56832" y="5888736"/>
            <a:ext cx="3493008" cy="-91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57697E"/>
                </a:solidFill>
                <a:latin typeface="Aptos"/>
              </a:rPr>
              <a:t>Retry count advances until recovery is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Failure recovery and dead-letter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No silent loss: exhausted events become actionable operational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RECOVERY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828800"/>
            <a:ext cx="2057400" cy="1234440"/>
          </a:xfrm>
          <a:prstGeom prst="roundRect">
            <a:avLst/>
          </a:prstGeom>
          <a:solidFill>
            <a:srgbClr val="EE853A"/>
          </a:solidFill>
          <a:ln>
            <a:solidFill>
              <a:srgbClr val="EE8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2996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Transient failure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35915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Failed delivery or
gateway timeout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1828800"/>
            <a:ext cx="2057400" cy="1234440"/>
          </a:xfrm>
          <a:prstGeom prst="roundRect">
            <a:avLst/>
          </a:prstGeom>
          <a:solidFill>
            <a:srgbClr val="2066AA"/>
          </a:solidFill>
          <a:ln>
            <a:solidFill>
              <a:srgbClr val="20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59" y="202996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Retry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1335" y="235915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Retry count is
incremented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828800"/>
            <a:ext cx="2057400" cy="1234440"/>
          </a:xfrm>
          <a:prstGeom prst="roundRect">
            <a:avLst/>
          </a:prstGeom>
          <a:solidFill>
            <a:srgbClr val="CD484B"/>
          </a:solidFill>
          <a:ln>
            <a:solidFill>
              <a:srgbClr val="CD4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202996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Dead-letter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235915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Event, channel,
tier, error retained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828800"/>
            <a:ext cx="2057400" cy="1234440"/>
          </a:xfrm>
          <a:prstGeom prst="roundRect">
            <a:avLst/>
          </a:prstGeom>
          <a:solidFill>
            <a:srgbClr val="009CA6"/>
          </a:solidFill>
          <a:ln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2029968"/>
            <a:ext cx="187451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Requeue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359152"/>
            <a:ext cx="1801368" cy="6126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Aptos"/>
              </a:rPr>
              <a:t>Reset for a fresh
processing cycle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2441448"/>
            <a:ext cx="594360" cy="0"/>
          </a:xfrm>
          <a:prstGeom prst="line">
            <a:avLst/>
          </a:prstGeom>
          <a:ln w="25400">
            <a:solidFill>
              <a:srgbClr val="009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06440" y="2441448"/>
            <a:ext cx="594360" cy="0"/>
          </a:xfrm>
          <a:prstGeom prst="line">
            <a:avLst/>
          </a:prstGeom>
          <a:ln w="25400">
            <a:solidFill>
              <a:srgbClr val="009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549640" y="2441448"/>
            <a:ext cx="594360" cy="0"/>
          </a:xfrm>
          <a:prstGeom prst="line">
            <a:avLst/>
          </a:prstGeom>
          <a:ln w="25400">
            <a:solidFill>
              <a:srgbClr val="009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D1F36"/>
                </a:solidFill>
                <a:latin typeface="Aptos"/>
              </a:rPr>
              <a:t>Operational safeguards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370832"/>
            <a:ext cx="10058400" cy="1325880"/>
          </a:xfrm>
          <a:prstGeom prst="rect">
            <a:avLst/>
          </a:prstGeom>
          <a:noFill/>
        </p:spPr>
        <p:txBody>
          <a:bodyPr wrap="square" lIns="0" rIns="27432" tIns="0" bIns="0">
            <a:spAutoFit/>
          </a:bodyPr>
          <a:lstStyle/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Dead-letter records can be listed for investigation.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A record can be requeued using its identifier.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Already moved or unknown records return explicit API errors.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Recovery preserves the original policy, channel, tier, and last error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Automated operations and batch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Recurring execution is expressed by cadence and purpose—not clock times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691640"/>
            <a:ext cx="32461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691640"/>
            <a:ext cx="73152" cy="3566160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5623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Frequent recurring 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258568"/>
            <a:ext cx="2898648" cy="28712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• Detect eligible renewals
• Create tiered reminders
• Process pending notifications
• Apply retries and DLQ rules
• Refresh operational reporting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1691640"/>
            <a:ext cx="32461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62272" y="1691640"/>
            <a:ext cx="73152" cy="356616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85623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Daily operational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2258568"/>
            <a:ext cx="2898648" cy="28712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• Generate the prior-period report
• Summarize policy states
• Summarize notification outcomes
• Summarize dead-lettered 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1691640"/>
            <a:ext cx="32461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7304" y="1691640"/>
            <a:ext cx="73152" cy="3566160"/>
          </a:xfrm>
          <a:prstGeom prst="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1856232"/>
            <a:ext cx="28986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Spring Batch readiness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258568"/>
            <a:ext cx="2898648" cy="28712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>• Renewal detection job definition
• Notification processing job definition
• Reader → processor → writer pattern
• Chunked processing for bounded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696712"/>
            <a:ext cx="10241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0D1F36"/>
                </a:solidFill>
                <a:latin typeface="Aptos"/>
              </a:rPr>
              <a:t>The same business intent is available through both recurring application jobs and batch-oriented processing components.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Reporting and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The POC makes business state and processing outcomes visible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45920"/>
            <a:ext cx="32918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45920"/>
            <a:ext cx="73152" cy="3977639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810512"/>
            <a:ext cx="294436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Policy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212848"/>
            <a:ext cx="2944368" cy="3282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7697E"/>
                </a:solidFill>
                <a:latin typeface="Aptos"/>
              </a:rPr>
              <a:t>Counts by lifecycle state:
ACTIVE
RENEWAL_DUE
RENEWED
LAPSED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53128" y="1645920"/>
            <a:ext cx="32918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53128" y="1645920"/>
            <a:ext cx="73152" cy="3977639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810512"/>
            <a:ext cx="294436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Notification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212848"/>
            <a:ext cx="2944368" cy="3282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7697E"/>
                </a:solidFill>
                <a:latin typeface="Aptos"/>
              </a:rPr>
              <a:t>Counts by reminder tier and outcome:
SENT
FAILED
GATEWAY_TIMEOUT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4736" y="1645920"/>
            <a:ext cx="32918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74736" y="1645920"/>
            <a:ext cx="73152" cy="3977639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1810512"/>
            <a:ext cx="294436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Recovery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2212848"/>
            <a:ext cx="2944368" cy="3282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7697E"/>
                </a:solidFill>
                <a:latin typeface="Aptos"/>
              </a:rPr>
              <a:t>Dead-lettered work grouped by:
Tier
Failure reason
Operational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0D1F36"/>
                </a:solidFill>
                <a:latin typeface="Aptos"/>
              </a:rPr>
              <a:t>Renewal history is tracked independently so reporting reflects events in the selected reporting period—not only current state.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Validation and consistent API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Input quality and failure responses are handled centrally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480060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737360"/>
            <a:ext cx="73152" cy="3611880"/>
          </a:xfrm>
          <a:prstGeom prst="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901952"/>
            <a:ext cx="4453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Prevent invalid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2304288"/>
            <a:ext cx="4453128" cy="29169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59152"/>
            <a:ext cx="4160520" cy="2377440"/>
          </a:xfrm>
          <a:prstGeom prst="rect">
            <a:avLst/>
          </a:prstGeom>
          <a:noFill/>
        </p:spPr>
        <p:txBody>
          <a:bodyPr wrap="square" lIns="0" rIns="27432" tIns="0" bIns="0">
            <a:spAutoFit/>
          </a:bodyPr>
          <a:lstStyle/>
          <a:p>
            <a:pPr>
              <a:spcAft>
                <a:spcPts val="80"/>
              </a:spcAft>
            </a:pPr>
            <a:r>
              <a:rPr sz="1300" b="1">
                <a:solidFill>
                  <a:srgbClr val="2066AA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Required field validation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2066AA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Email format validation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2066AA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Ten-digit phone validation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2066AA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Positive premium validation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2066AA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Supported policy-type validation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2066AA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Start date before end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1737360"/>
            <a:ext cx="480060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1737360"/>
            <a:ext cx="73152" cy="3611880"/>
          </a:xfrm>
          <a:prstGeom prst="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8272" y="1901952"/>
            <a:ext cx="4453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D1F36"/>
                </a:solidFill>
                <a:latin typeface="Aptos"/>
              </a:rPr>
              <a:t>Explain operational errors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8272" y="2304288"/>
            <a:ext cx="4453128" cy="29169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7697E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359152"/>
            <a:ext cx="4160520" cy="2377440"/>
          </a:xfrm>
          <a:prstGeom prst="rect">
            <a:avLst/>
          </a:prstGeom>
          <a:noFill/>
        </p:spPr>
        <p:txBody>
          <a:bodyPr wrap="square" lIns="0" rIns="27432" tIns="0" bIns="0">
            <a:spAutoFit/>
          </a:bodyPr>
          <a:lstStyle/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Policy not found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Duplicate customer contact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Invalid renewal request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Expired grace period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Duplicate DLQ requeue</a:t>
            </a:r>
          </a:p>
          <a:p>
            <a:pPr>
              <a:spcAft>
                <a:spcPts val="80"/>
              </a:spcAft>
            </a:pPr>
            <a:r>
              <a:rPr sz="1300" b="1">
                <a:solidFill>
                  <a:srgbClr val="CD484B"/>
                </a:solidFill>
                <a:latin typeface="Aptos"/>
              </a:rPr>
              <a:t>● </a:t>
            </a:r>
            <a:r>
              <a:rPr sz="1400">
                <a:solidFill>
                  <a:srgbClr val="1C2938"/>
                </a:solidFill>
                <a:latin typeface="Aptos"/>
              </a:rPr>
              <a:t>Unknown DLQ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80644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0D1F36"/>
                </a:solidFill>
                <a:latin typeface="Aptos"/>
              </a:rPr>
              <a:t>Consistent JSON message responses make the POC easy to exercise from API clients and straightforward to diagnose.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D1F36"/>
                </a:solidFill>
                <a:latin typeface="Aptos"/>
              </a:rPr>
              <a:t>Suggested POC 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607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A concise path for the project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14432" y="384048"/>
            <a:ext cx="1234440" cy="347472"/>
          </a:xfrm>
          <a:prstGeom prst="roundRect">
            <a:avLst/>
          </a:prstGeom>
          <a:solidFill>
            <a:srgbClr val="DC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51008" y="448056"/>
            <a:ext cx="1161288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009CA6"/>
                </a:solidFill>
                <a:latin typeface="Aptos"/>
              </a:rPr>
              <a:t>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52728"/>
            <a:ext cx="10927080" cy="27432"/>
          </a:xfrm>
          <a:prstGeom prst="rect">
            <a:avLst/>
          </a:prstGeom>
          <a:solidFill>
            <a:srgbClr val="DB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457200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57697E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57697E"/>
                </a:solidFill>
                <a:latin typeface="Aptos"/>
              </a:rPr>
              <a:t>13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1965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1709928"/>
            <a:ext cx="4389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D1F36"/>
                </a:solidFill>
                <a:latin typeface="Aptos"/>
              </a:rPr>
              <a:t>Create a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075688"/>
            <a:ext cx="43891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Show validation and initial lifecycle state.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1691640"/>
            <a:ext cx="502920" cy="50292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1965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1709928"/>
            <a:ext cx="4389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D1F36"/>
                </a:solidFill>
                <a:latin typeface="Aptos"/>
              </a:rPr>
              <a:t>Advance toward expiry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8312" y="2075688"/>
            <a:ext cx="43891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Explain reminder tiers and state transition.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4553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035808"/>
            <a:ext cx="4389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D1F36"/>
                </a:solidFill>
                <a:latin typeface="Aptos"/>
              </a:rPr>
              <a:t>Inspect policy details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3401568"/>
            <a:ext cx="43891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Show notification history on the policy view.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017520"/>
            <a:ext cx="502920" cy="502920"/>
          </a:xfrm>
          <a:prstGeom prst="ellipse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4553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035808"/>
            <a:ext cx="4389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D1F36"/>
                </a:solidFill>
                <a:latin typeface="Aptos"/>
              </a:rPr>
              <a:t>Simulate delivery outcomes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3401568"/>
            <a:ext cx="43891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Show sent, failed, and timeout handling.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2A9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7141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4361688"/>
            <a:ext cx="4389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D1F36"/>
                </a:solidFill>
                <a:latin typeface="Aptos"/>
              </a:rPr>
              <a:t>Inspect recovery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1912" y="4727448"/>
            <a:ext cx="43891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Show DLQ listing and requeue action.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4343400"/>
            <a:ext cx="502920" cy="502920"/>
          </a:xfrm>
          <a:prstGeom prst="ellipse">
            <a:avLst/>
          </a:prstGeom>
          <a:solidFill>
            <a:srgbClr val="EE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447141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61688"/>
            <a:ext cx="4389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D1F36"/>
                </a:solidFill>
                <a:latin typeface="Aptos"/>
              </a:rPr>
              <a:t>Review report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4727448"/>
            <a:ext cx="43891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7697E"/>
                </a:solidFill>
                <a:latin typeface="Aptos"/>
              </a:rPr>
              <a:t>Show policy, notification, and recovery summaries.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715000"/>
            <a:ext cx="10241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0D1F36"/>
                </a:solidFill>
                <a:latin typeface="Aptos"/>
              </a:rPr>
              <a:t>This flow demonstrates the happy path, controlled failure path, recovery path, and measurable outcome.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A3E1E0"/>
                </a:solidFill>
                <a:latin typeface="Aptos"/>
              </a:rPr>
              <a:t>POC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08760"/>
            <a:ext cx="978408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A complete, observable renewal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987552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0">
                <a:solidFill>
                  <a:srgbClr val="DCE7F1"/>
                </a:solidFill>
                <a:latin typeface="Aptos"/>
              </a:rPr>
              <a:t>The implementation demonstrates how policy lifecycle management, proactive reminders, resilient notification processing, recovery controls, and operational reporting fit together as one coherent insurance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4251960"/>
            <a:ext cx="1783080" cy="566928"/>
          </a:xfrm>
          <a:prstGeom prst="roundRect">
            <a:avLst/>
          </a:prstGeom>
          <a:solidFill>
            <a:srgbClr val="20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425696"/>
            <a:ext cx="17830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Manage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2" y="4251960"/>
            <a:ext cx="1783080" cy="566928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4425696"/>
            <a:ext cx="17830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2352" y="4251960"/>
            <a:ext cx="1783080" cy="566928"/>
          </a:xfrm>
          <a:prstGeom prst="roundRect">
            <a:avLst/>
          </a:prstGeom>
          <a:solidFill>
            <a:srgbClr val="EE8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2352" y="4425696"/>
            <a:ext cx="17830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Deliver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4251960"/>
            <a:ext cx="1783080" cy="566928"/>
          </a:xfrm>
          <a:prstGeom prst="roundRect">
            <a:avLst/>
          </a:prstGeom>
          <a:solidFill>
            <a:srgbClr val="CD4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4425696"/>
            <a:ext cx="17830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Recover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0032" y="4251960"/>
            <a:ext cx="1783080" cy="566928"/>
          </a:xfrm>
          <a:prstGeom prst="roundRect">
            <a:avLst/>
          </a:prstGeom>
          <a:solidFill>
            <a:srgbClr val="2A9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0032" y="4425696"/>
            <a:ext cx="17830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15000"/>
            <a:ext cx="27432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411480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A6BBCF"/>
                </a:solidFill>
                <a:latin typeface="Aptos"/>
              </a:rPr>
              <a:t>Insurance Renewal &amp; Notification POC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>
                <a:solidFill>
                  <a:srgbClr val="A6BBCF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