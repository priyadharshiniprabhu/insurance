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8" r:id="rId12"/>
    <p:sldId id="269" r:id="rId13"/>
    <p:sldId id="270" r:id="rId14"/>
    <p:sldId id="264" r:id="rId15"/>
    <p:sldId id="265" r:id="rId16"/>
    <p:sldId id="266" r:id="rId17"/>
    <p:sldId id="272" r:id="rId18"/>
    <p:sldId id="267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8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146304"/>
            <a:ext cx="3657600" cy="365760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530352"/>
            <a:ext cx="2651760" cy="2651760"/>
          </a:xfrm>
          <a:prstGeom prst="ellipse">
            <a:avLst/>
          </a:prstGeom>
          <a:solidFill>
            <a:srgbClr val="761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2743200" cy="109728"/>
          </a:xfrm>
          <a:prstGeom prst="roundRect">
            <a:avLst>
              <a:gd name="adj" fmla="val 12000"/>
            </a:avLst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02920"/>
            <a:ext cx="60350" cy="3401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11680"/>
            <a:ext cx="795527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Insurance renewals</a:t>
            </a:r>
            <a:endParaRPr sz="3700" b="1" i="0">
              <a:solidFill>
                <a:srgbClr val="FFFFFF"/>
              </a:solidFill>
              <a:latin typeface="Aptos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made simpler</a:t>
            </a:r>
            <a:endParaRPr sz="37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" y="3657600"/>
            <a:ext cx="6766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One connected service for policy management, renewal reminders, delivery follow-up and daily service visibility.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" y="5074920"/>
            <a:ext cx="4334256" cy="0"/>
          </a:xfrm>
          <a:prstGeom prst="line">
            <a:avLst/>
          </a:prstGeom>
          <a:ln w="13970">
            <a:solidFill>
              <a:srgbClr val="8D6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5285232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THE FULL APPLICATION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" y="6473952"/>
            <a:ext cx="11137392" cy="0"/>
          </a:xfrm>
          <a:prstGeom prst="line">
            <a:avLst/>
          </a:prstGeom>
          <a:ln w="8890">
            <a:solidFill>
              <a:srgbClr val="D8C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835640" y="65471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01 /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17720"/>
            <a:ext cx="10881360" cy="1261872"/>
          </a:xfrm>
          <a:prstGeom prst="roundRect">
            <a:avLst>
              <a:gd name="adj" fmla="val 12000"/>
            </a:avLst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800600"/>
            <a:ext cx="242316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4B942"/>
                </a:solidFill>
                <a:latin typeface="Aptos"/>
              </a:rPr>
              <a:t>MANAGE COVER</a:t>
            </a:r>
            <a:endParaRPr sz="85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6" y="5138928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Aptos"/>
              </a:rPr>
              <a:t>Create, view and renew policies.</a:t>
            </a:r>
            <a:endParaRPr sz="93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11296" y="4800600"/>
            <a:ext cx="242316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4B942"/>
                </a:solidFill>
                <a:latin typeface="Aptos"/>
              </a:rPr>
              <a:t>GUIDE RENEWAL</a:t>
            </a:r>
            <a:endParaRPr sz="85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11296" y="5138928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Aptos"/>
              </a:rPr>
              <a:t>30-, 15- and 7-day reminders; grace-period follow-up.</a:t>
            </a:r>
            <a:endParaRPr sz="93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63056" y="4800600"/>
            <a:ext cx="242316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4B942"/>
                </a:solidFill>
                <a:latin typeface="Aptos"/>
              </a:rPr>
              <a:t>SUPPORT DELIVERY</a:t>
            </a:r>
            <a:endParaRPr sz="85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63056" y="5138928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Aptos"/>
              </a:rPr>
              <a:t>Email and text reminders with visible follow-up.</a:t>
            </a:r>
            <a:endParaRPr sz="93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4815" y="4800600"/>
            <a:ext cx="242316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4B942"/>
                </a:solidFill>
                <a:latin typeface="Aptos"/>
              </a:rPr>
              <a:t>TRACK OUTCOMES</a:t>
            </a:r>
            <a:endParaRPr sz="85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14815" y="5138928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Aptos"/>
              </a:rPr>
              <a:t>Review lapsed policies and daily service reports.</a:t>
            </a:r>
            <a:endParaRPr sz="93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03504" y="429768"/>
            <a:ext cx="22219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75488"/>
            <a:ext cx="1993392" cy="531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E1E72"/>
                </a:solidFill>
                <a:latin typeface="Aptos"/>
              </a:rPr>
              <a:t>One application supports the full policy renewal journey</a:t>
            </a:r>
            <a:endParaRPr sz="24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78992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F6A78"/>
                </a:solidFill>
                <a:latin typeface="Aptos"/>
              </a:rPr>
              <a:t>From policy setup to renewal follow-up, lapse status and daily service visibility.</a:t>
            </a:r>
            <a:endParaRPr sz="1150" b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2103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2103120" cy="91440"/>
          </a:xfrm>
          <a:prstGeom prst="rect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8404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773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Manage policies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300984"/>
            <a:ext cx="177393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2333"/>
                </a:solidFill>
                <a:latin typeface="Aptos"/>
              </a:rPr>
              <a:t>Create, view and renew cover.</a:t>
            </a:r>
            <a:endParaRPr sz="9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83764" y="2871215"/>
            <a:ext cx="1371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51675"/>
                </a:solidFill>
                <a:latin typeface="Aptos"/>
              </a:rPr>
              <a:t>&gt;</a:t>
            </a:r>
            <a:endParaRPr sz="13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34640" y="1874519"/>
            <a:ext cx="2103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874519"/>
            <a:ext cx="2103120" cy="91440"/>
          </a:xfrm>
          <a:prstGeom prst="rect">
            <a:avLst/>
          </a:prstGeom>
          <a:solidFill>
            <a:srgbClr val="951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9232" y="2130552"/>
            <a:ext cx="384048" cy="384048"/>
          </a:xfrm>
          <a:prstGeom prst="ellipse">
            <a:avLst/>
          </a:prstGeom>
          <a:solidFill>
            <a:srgbClr val="951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212848"/>
            <a:ext cx="38404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9232" y="2734056"/>
            <a:ext cx="1773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Spot renewals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99232" y="3300984"/>
            <a:ext cx="177393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2333"/>
                </a:solidFill>
                <a:latin typeface="Aptos"/>
              </a:rPr>
              <a:t>Identify upcoming end dates and choose the right reminder.</a:t>
            </a:r>
            <a:endParaRPr sz="9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1476" y="2871215"/>
            <a:ext cx="1371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51675"/>
                </a:solidFill>
                <a:latin typeface="Aptos"/>
              </a:rPr>
              <a:t>&gt;</a:t>
            </a:r>
            <a:endParaRPr sz="13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102352" y="1874519"/>
            <a:ext cx="2103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2352" y="1874519"/>
            <a:ext cx="2103120" cy="91440"/>
          </a:xfrm>
          <a:prstGeom prst="rect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66944" y="2130552"/>
            <a:ext cx="384048" cy="38404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212848"/>
            <a:ext cx="38404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66944" y="2734056"/>
            <a:ext cx="1773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Contact customers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66944" y="3300984"/>
            <a:ext cx="177393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2333"/>
                </a:solidFill>
                <a:latin typeface="Aptos"/>
              </a:rPr>
              <a:t>Send email and text reminders; keep unsuccessful delivery visible.</a:t>
            </a:r>
            <a:endParaRPr sz="9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19188" y="2871215"/>
            <a:ext cx="1371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51675"/>
                </a:solidFill>
                <a:latin typeface="Aptos"/>
              </a:rPr>
              <a:t>&gt;</a:t>
            </a:r>
            <a:endParaRPr sz="13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70063" y="1874519"/>
            <a:ext cx="2103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3" y="1874519"/>
            <a:ext cx="2103120" cy="91440"/>
          </a:xfrm>
          <a:prstGeom prst="rect">
            <a:avLst/>
          </a:prstGeom>
          <a:solidFill>
            <a:srgbClr val="A8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34655" y="2130552"/>
            <a:ext cx="384048" cy="384048"/>
          </a:xfrm>
          <a:prstGeom prst="ellipse">
            <a:avLst/>
          </a:prstGeom>
          <a:solidFill>
            <a:srgbClr val="A8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5" y="2212848"/>
            <a:ext cx="38404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34655" y="2734056"/>
            <a:ext cx="1773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Update policy status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4655" y="3300984"/>
            <a:ext cx="177393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2333"/>
                </a:solidFill>
                <a:latin typeface="Aptos"/>
              </a:rPr>
              <a:t>Allow 15 days after expiry for grace-period follow-up, then mark the policy lapsed.</a:t>
            </a:r>
            <a:endParaRPr sz="9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86900" y="2871215"/>
            <a:ext cx="1371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51675"/>
                </a:solidFill>
                <a:latin typeface="Aptos"/>
              </a:rPr>
              <a:t>&gt;</a:t>
            </a:r>
            <a:endParaRPr sz="13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637776" y="1874519"/>
            <a:ext cx="2103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37776" y="1874519"/>
            <a:ext cx="2103120" cy="91440"/>
          </a:xfrm>
          <a:prstGeom prst="rect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02367" y="2130552"/>
            <a:ext cx="384048" cy="384048"/>
          </a:xfrm>
          <a:prstGeom prst="ellipse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02367" y="2212848"/>
            <a:ext cx="38404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02367" y="2734056"/>
            <a:ext cx="1773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Review outcomes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02367" y="3300984"/>
            <a:ext cx="177393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2333"/>
                </a:solidFill>
                <a:latin typeface="Aptos"/>
              </a:rPr>
              <a:t>Summarize policy status, reminders and items needing attention.</a:t>
            </a:r>
            <a:endParaRPr sz="9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4553712"/>
            <a:ext cx="10881360" cy="1133856"/>
          </a:xfrm>
          <a:prstGeom prst="roundRect">
            <a:avLst>
              <a:gd name="adj" fmla="val 12000"/>
            </a:avLst>
          </a:prstGeom>
          <a:solidFill>
            <a:srgbClr val="F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745736"/>
            <a:ext cx="20116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51675"/>
                </a:solidFill>
                <a:latin typeface="Aptos"/>
              </a:rPr>
              <a:t>THE CUSTOMER SEES</a:t>
            </a:r>
            <a:endParaRPr sz="9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2" y="5093208"/>
            <a:ext cx="448056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Timely reminders, clear next steps and a clearer view of renewal status.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70448" y="4745736"/>
            <a:ext cx="20574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51675"/>
                </a:solidFill>
                <a:latin typeface="Aptos"/>
              </a:rPr>
              <a:t>THE SERVICE TEAM SEES</a:t>
            </a:r>
            <a:endParaRPr sz="90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70448" y="5093208"/>
            <a:ext cx="534924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Delivery follow-up, policies past the grace period and a daily activity summary.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30352" y="617169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412230"/>
            <a:ext cx="1005840" cy="37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The renewal experience can be hard to follow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A few common gaps can leave customers unsure about what to do next.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694944" y="1737360"/>
            <a:ext cx="347472" cy="34747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760219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1872" y="1719072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82333"/>
                </a:solidFill>
                <a:latin typeface="Aptos"/>
              </a:rPr>
              <a:t>Customers may not know when their policy is getting close to its end date.</a:t>
            </a:r>
            <a:endParaRPr sz="16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261872" y="2313432"/>
            <a:ext cx="10076688" cy="0"/>
          </a:xfrm>
          <a:prstGeom prst="line">
            <a:avLst/>
          </a:prstGeom>
          <a:ln w="8255">
            <a:solidFill>
              <a:srgbClr val="E5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94944" y="2523744"/>
            <a:ext cx="347472" cy="34747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46603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872" y="2505456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82333"/>
                </a:solidFill>
                <a:latin typeface="Aptos"/>
              </a:rPr>
              <a:t>A late or missed reminder can leave too little time to make a renewal decision.</a:t>
            </a:r>
            <a:endParaRPr sz="16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261872" y="3099815"/>
            <a:ext cx="10076688" cy="0"/>
          </a:xfrm>
          <a:prstGeom prst="line">
            <a:avLst/>
          </a:prstGeom>
          <a:ln w="8255">
            <a:solidFill>
              <a:srgbClr val="E5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94944" y="3310127"/>
            <a:ext cx="347472" cy="34747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332987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61872" y="3291839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82333"/>
                </a:solidFill>
                <a:latin typeface="Aptos"/>
              </a:rPr>
              <a:t>Important messages may be overlooked when updates arrive inconsistently.</a:t>
            </a:r>
            <a:endParaRPr sz="16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61872" y="3886200"/>
            <a:ext cx="10076688" cy="0"/>
          </a:xfrm>
          <a:prstGeom prst="line">
            <a:avLst/>
          </a:prstGeom>
          <a:ln w="8255">
            <a:solidFill>
              <a:srgbClr val="E5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94944" y="4096511"/>
            <a:ext cx="347472" cy="34747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119372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1872" y="4078224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82333"/>
                </a:solidFill>
                <a:latin typeface="Aptos"/>
              </a:rPr>
              <a:t>When a message cannot be delivered, customers may not know whether help is needed.</a:t>
            </a:r>
            <a:endParaRPr sz="16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261872" y="4672584"/>
            <a:ext cx="10076688" cy="0"/>
          </a:xfrm>
          <a:prstGeom prst="line">
            <a:avLst/>
          </a:prstGeom>
          <a:ln w="8255">
            <a:solidFill>
              <a:srgbClr val="E5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94944" y="4882896"/>
            <a:ext cx="347472" cy="34747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90575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1872" y="4864608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82333"/>
                </a:solidFill>
                <a:latin typeface="Aptos"/>
              </a:rPr>
              <a:t>Without a clear view of progress, it is harder to feel confident that renewal is complete.</a:t>
            </a:r>
            <a:endParaRPr sz="16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30352" y="590753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6244590"/>
            <a:ext cx="1005840" cy="366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>
                <a:solidFill>
                  <a:srgbClr val="4E1E72"/>
                </a:solidFill>
                <a:latin typeface="Aptos"/>
              </a:rPr>
              <a:t>G</a:t>
            </a:r>
            <a:r>
              <a:rPr sz="2500" b="1" i="0">
                <a:solidFill>
                  <a:srgbClr val="4E1E72"/>
                </a:solidFill>
                <a:latin typeface="Aptos"/>
              </a:rPr>
              <a:t>uide customers at every step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One connected experience that makes renewal easier to notice, understand and complete.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2578608" cy="3154680"/>
          </a:xfrm>
          <a:prstGeom prst="roundRect">
            <a:avLst>
              <a:gd name="adj" fmla="val 12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21488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E1E72"/>
                </a:solidFill>
                <a:latin typeface="Aptos"/>
              </a:rPr>
              <a:t>Know what is coming</a:t>
            </a:r>
            <a:endParaRPr sz="16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Keep policy dates and renewal information easy to find.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6976" y="287121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83864" y="1874519"/>
            <a:ext cx="2578608" cy="3154680"/>
          </a:xfrm>
          <a:prstGeom prst="roundRect">
            <a:avLst>
              <a:gd name="adj" fmla="val 12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5032" y="2103120"/>
            <a:ext cx="502920" cy="50292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2128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032" y="2852928"/>
            <a:ext cx="21488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E1E72"/>
                </a:solidFill>
                <a:latin typeface="Aptos"/>
              </a:rPr>
              <a:t>Remind in good time</a:t>
            </a:r>
            <a:endParaRPr sz="16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5032" y="365760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Send clear reminders at helpful points before expiry.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9048" y="287121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45936" y="1874519"/>
            <a:ext cx="2578608" cy="3154680"/>
          </a:xfrm>
          <a:prstGeom prst="roundRect">
            <a:avLst>
              <a:gd name="adj" fmla="val 12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47103" y="2103120"/>
            <a:ext cx="502920" cy="50292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3" y="22128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47103" y="2852928"/>
            <a:ext cx="21488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E1E72"/>
                </a:solidFill>
                <a:latin typeface="Aptos"/>
              </a:rPr>
              <a:t>Make action clear</a:t>
            </a:r>
            <a:endParaRPr sz="16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47103" y="365760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Tell customers what they can do and where to get help.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61119" y="287121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208008" y="1874519"/>
            <a:ext cx="2578608" cy="3154680"/>
          </a:xfrm>
          <a:prstGeom prst="roundRect">
            <a:avLst>
              <a:gd name="adj" fmla="val 12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9176" y="2103120"/>
            <a:ext cx="502920" cy="50292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22128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09176" y="2852928"/>
            <a:ext cx="21488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E1E72"/>
                </a:solidFill>
                <a:latin typeface="Aptos"/>
              </a:rPr>
              <a:t>Follow through</a:t>
            </a:r>
            <a:endParaRPr sz="16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09176" y="365760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Track delivery and make missed messages visible to the service team.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5413248"/>
            <a:ext cx="10927080" cy="585216"/>
          </a:xfrm>
          <a:prstGeom prst="roundRect">
            <a:avLst>
              <a:gd name="adj" fmla="val 12000"/>
            </a:avLst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The goal: a customer always knows where they are in the renewal journey and what to do next.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85597" y="627265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85560"/>
            <a:ext cx="1005840" cy="402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A simple journey from cover to renewal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Customers receive useful guidance before their policy reaches its end date.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1335024" y="2011680"/>
            <a:ext cx="768096" cy="768096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231136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3035808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273552"/>
            <a:ext cx="18562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1E72"/>
                </a:solidFill>
                <a:latin typeface="Aptos"/>
              </a:rPr>
              <a:t>Policy in place</a:t>
            </a:r>
            <a:endParaRPr sz="13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3730752"/>
            <a:ext cx="185623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Know your cover</a:t>
            </a:r>
            <a:endParaRPr sz="1050" b="0" i="0">
              <a:solidFill>
                <a:srgbClr val="6F6A78"/>
              </a:solidFill>
              <a:latin typeface="Aptos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and end date</a:t>
            </a:r>
            <a:endParaRPr sz="10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24528" y="2011680"/>
            <a:ext cx="768096" cy="768096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231136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47872" y="3035808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3273552"/>
            <a:ext cx="18562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1E72"/>
                </a:solidFill>
                <a:latin typeface="Aptos"/>
              </a:rPr>
              <a:t>Renewal ahead</a:t>
            </a:r>
            <a:endParaRPr sz="13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4176" y="3730752"/>
            <a:ext cx="185623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Receive a timely</a:t>
            </a:r>
            <a:endParaRPr sz="1050" b="0" i="0">
              <a:solidFill>
                <a:srgbClr val="6F6A78"/>
              </a:solidFill>
              <a:latin typeface="Aptos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heads-up</a:t>
            </a:r>
            <a:endParaRPr sz="10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114032" y="2011680"/>
            <a:ext cx="768096" cy="768096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231136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37376" y="3035808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F9E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73552"/>
            <a:ext cx="18562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1E72"/>
                </a:solidFill>
                <a:latin typeface="Aptos"/>
              </a:rPr>
              <a:t>Take action</a:t>
            </a:r>
            <a:endParaRPr sz="13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3730752"/>
            <a:ext cx="185623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Review and choose</a:t>
            </a:r>
            <a:endParaRPr sz="1050" b="0" i="0">
              <a:solidFill>
                <a:srgbClr val="6F6A78"/>
              </a:solidFill>
              <a:latin typeface="Aptos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your next step</a:t>
            </a:r>
            <a:endParaRPr sz="10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03536" y="2011680"/>
            <a:ext cx="768096" cy="768096"/>
          </a:xfrm>
          <a:prstGeom prst="ellipse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3536" y="2231136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26880" y="3035808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3273552"/>
            <a:ext cx="18562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1E72"/>
                </a:solidFill>
                <a:latin typeface="Aptos"/>
              </a:rPr>
              <a:t>Renewal complete</a:t>
            </a:r>
            <a:endParaRPr sz="13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73184" y="3730752"/>
            <a:ext cx="185623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Receive confirmation</a:t>
            </a:r>
            <a:endParaRPr sz="1050" b="0" i="0">
              <a:solidFill>
                <a:srgbClr val="6F6A78"/>
              </a:solidFill>
              <a:latin typeface="Aptos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A78"/>
                </a:solidFill>
                <a:latin typeface="Aptos"/>
              </a:rPr>
              <a:t>and peace of mind</a:t>
            </a:r>
            <a:endParaRPr sz="10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" y="5010912"/>
            <a:ext cx="1065276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2333"/>
                </a:solidFill>
                <a:latin typeface="Aptos"/>
              </a:rPr>
              <a:t>At every stage, the message should be timely, easy to understand and relevant to the customer.</a:t>
            </a:r>
            <a:endParaRPr sz="1300" b="1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30352" y="618947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417945"/>
            <a:ext cx="1005840" cy="370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Proactive reminders, timed for the right moment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Each reminder has a different purpose: give time, prompt action or provide a follow-up.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F6A78"/>
                </a:solidFill>
                <a:latin typeface="Aptos"/>
              </a:rPr>
              <a:t>WHEN</a:t>
            </a:r>
            <a:endParaRPr sz="850" b="1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1720" y="162763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F6A78"/>
                </a:solidFill>
                <a:latin typeface="Aptos"/>
              </a:rPr>
              <a:t>PURPOSE</a:t>
            </a:r>
            <a:endParaRPr sz="850" b="1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54880" y="1627632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F6A78"/>
                </a:solidFill>
                <a:latin typeface="Aptos"/>
              </a:rPr>
              <a:t>WHAT THE CUSTOMER GETS</a:t>
            </a:r>
            <a:endParaRPr sz="850" b="1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62763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F6A78"/>
                </a:solidFill>
                <a:latin typeface="Aptos"/>
              </a:rPr>
              <a:t>HELPFUL NEXT STEP</a:t>
            </a:r>
            <a:endParaRPr sz="850" b="1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1E72"/>
                </a:solidFill>
                <a:latin typeface="Aptos"/>
              </a:rPr>
              <a:t>30 days before</a:t>
            </a:r>
            <a:endParaRPr sz="11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2075688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82333"/>
                </a:solidFill>
                <a:latin typeface="Aptos"/>
              </a:rPr>
              <a:t>Early awareness</a:t>
            </a:r>
            <a:endParaRPr sz="11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202996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A friendly heads-up that the policy is approaching renewal.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0" y="202996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Review the policy and note the renewal date.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779776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44368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1E72"/>
                </a:solidFill>
                <a:latin typeface="Aptos"/>
              </a:rPr>
              <a:t>15 days before</a:t>
            </a:r>
            <a:endParaRPr sz="11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916936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82333"/>
                </a:solidFill>
                <a:latin typeface="Aptos"/>
              </a:rPr>
              <a:t>Action window</a:t>
            </a:r>
            <a:endParaRPr sz="11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0" y="287121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A reminder with enough time to consider renewal and ask questions.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871216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Choose a renewal option or contact the service team.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CE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5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1E72"/>
                </a:solidFill>
                <a:latin typeface="Aptos"/>
              </a:rPr>
              <a:t>7 days before</a:t>
            </a:r>
            <a:endParaRPr sz="11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31720" y="3758184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82333"/>
                </a:solidFill>
                <a:latin typeface="Aptos"/>
              </a:rPr>
              <a:t>Urgent reminder</a:t>
            </a:r>
            <a:endParaRPr sz="11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712463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A concise prompt that the end date is close.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3712463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Complete the renewal steps before the end date.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4462272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C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26864"/>
            <a:ext cx="13533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1E72"/>
                </a:solidFill>
                <a:latin typeface="Aptos"/>
              </a:rPr>
              <a:t>After the end date*</a:t>
            </a:r>
            <a:endParaRPr sz="11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31720" y="459943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82333"/>
                </a:solidFill>
                <a:latin typeface="Aptos"/>
              </a:rPr>
              <a:t>Grace-period follow-up</a:t>
            </a:r>
            <a:endParaRPr sz="11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455371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A follow-up only while the policy is still within its allowed grace period.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45537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82333"/>
                </a:solidFill>
                <a:latin typeface="Aptos"/>
              </a:rPr>
              <a:t>Act promptly or contact the service team for guidance.</a:t>
            </a:r>
            <a:endParaRPr sz="9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808" y="548640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* Follow-up depends on the policy's grace-period rules. Cover can lapse after that period; customers should check their policy terms.</a:t>
            </a:r>
            <a:endParaRPr>
              <a:solidFill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67182" y="628218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82385"/>
            <a:ext cx="1005840" cy="405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Useful updates, in familiar channels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The renewal experience supports email and text-message reminders, with a clear purpose for each update.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3036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21408"/>
            <a:ext cx="594360" cy="59436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76856"/>
            <a:ext cx="59436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E1E72"/>
                </a:solidFill>
                <a:latin typeface="Aptos"/>
              </a:rPr>
              <a:t>@</a:t>
            </a:r>
            <a:endParaRPr sz="20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213969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E1E72"/>
                </a:solidFill>
                <a:latin typeface="Aptos"/>
              </a:rPr>
              <a:t>Email</a:t>
            </a:r>
            <a:endParaRPr sz="18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3703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333"/>
                </a:solidFill>
                <a:latin typeface="Aptos"/>
              </a:rPr>
              <a:t>A useful place for renewal details, policy information and a record customers can revisit.</a:t>
            </a:r>
            <a:endParaRPr sz="12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91072" y="1828800"/>
            <a:ext cx="523036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2121408"/>
            <a:ext cx="594360" cy="594360"/>
          </a:xfrm>
          <a:prstGeom prst="ellipse">
            <a:avLst/>
          </a:prstGeom>
          <a:solidFill>
            <a:srgbClr val="F9E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276856"/>
            <a:ext cx="59436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1E72"/>
                </a:solidFill>
                <a:latin typeface="Aptos"/>
              </a:rPr>
              <a:t>SMS</a:t>
            </a:r>
            <a:endParaRPr sz="10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70064" y="213969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E1E72"/>
                </a:solidFill>
                <a:latin typeface="Aptos"/>
              </a:rPr>
              <a:t>Text message</a:t>
            </a:r>
            <a:endParaRPr sz="18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70064" y="2651760"/>
            <a:ext cx="3703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333"/>
                </a:solidFill>
                <a:latin typeface="Aptos"/>
              </a:rPr>
              <a:t>A short, timely nudge that helps customers notice an upcoming renewal and take action.</a:t>
            </a:r>
            <a:endParaRPr sz="12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" y="490118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1E72"/>
                </a:solidFill>
                <a:latin typeface="Aptos"/>
              </a:rPr>
              <a:t>Every update should</a:t>
            </a:r>
            <a:endParaRPr sz="13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46120" y="486460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82333"/>
                </a:solidFill>
                <a:latin typeface="Aptos"/>
              </a:rPr>
              <a:t>Be timely</a:t>
            </a:r>
            <a:endParaRPr sz="105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46120" y="518464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A78"/>
                </a:solidFill>
                <a:latin typeface="Aptos"/>
              </a:rPr>
              <a:t>Arrive early enough to be useful.</a:t>
            </a:r>
            <a:endParaRPr sz="9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89320" y="486460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82333"/>
                </a:solidFill>
                <a:latin typeface="Aptos"/>
              </a:rPr>
              <a:t>Be clear</a:t>
            </a:r>
            <a:endParaRPr sz="105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89320" y="518464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A78"/>
                </a:solidFill>
                <a:latin typeface="Aptos"/>
              </a:rPr>
              <a:t>Explain what is happening and what to do.</a:t>
            </a:r>
            <a:endParaRPr sz="9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32520" y="486460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82333"/>
                </a:solidFill>
                <a:latin typeface="Aptos"/>
              </a:rPr>
              <a:t>Be traceable</a:t>
            </a:r>
            <a:endParaRPr sz="105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8464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A78"/>
                </a:solidFill>
                <a:latin typeface="Aptos"/>
              </a:rPr>
              <a:t>Help the service team see whether a message reached the customer.</a:t>
            </a:r>
            <a:endParaRPr sz="950" b="0" i="0">
              <a:solidFill>
                <a:srgbClr val="6F6A78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02717" y="608088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403340"/>
            <a:ext cx="1005840" cy="384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If a reminder does not get through, it stays visible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A missed delivery should be something the service team can see and act on it instead of disappearing without follow-up.</a:t>
            </a:r>
            <a:endParaRPr>
              <a:solidFill/>
            </a:endParaRPr>
          </a:p>
        </p:txBody>
      </p:sp>
      <p:sp>
        <p:nvSpPr>
          <p:cNvPr id="5" name="Oval 4"/>
          <p:cNvSpPr/>
          <p:nvPr/>
        </p:nvSpPr>
        <p:spPr>
          <a:xfrm>
            <a:off x="804672" y="1828800"/>
            <a:ext cx="475488" cy="47548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9384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42415" y="2322576"/>
            <a:ext cx="0" cy="374904"/>
          </a:xfrm>
          <a:prstGeom prst="line">
            <a:avLst/>
          </a:prstGeom>
          <a:ln w="1905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72768" y="1783080"/>
            <a:ext cx="28346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1E72"/>
                </a:solidFill>
                <a:latin typeface="Aptos"/>
              </a:rPr>
              <a:t>Delivery is attempted</a:t>
            </a:r>
            <a:endParaRPr sz="14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6720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The reminder is sent using the selected channel.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04672" y="2779776"/>
            <a:ext cx="475488" cy="47548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80360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42415" y="3273552"/>
            <a:ext cx="0" cy="374904"/>
          </a:xfrm>
          <a:prstGeom prst="line">
            <a:avLst/>
          </a:prstGeom>
          <a:ln w="1905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72768" y="2734056"/>
            <a:ext cx="28346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1E72"/>
                </a:solidFill>
                <a:latin typeface="Aptos"/>
              </a:rPr>
              <a:t>A problem is noticed</a:t>
            </a:r>
            <a:endParaRPr sz="14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43400" y="2734056"/>
            <a:ext cx="6720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An unsuccessful attempt is recorded for follow-up.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04672" y="3730752"/>
            <a:ext cx="475488" cy="47548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31336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042415" y="4224528"/>
            <a:ext cx="0" cy="374904"/>
          </a:xfrm>
          <a:prstGeom prst="line">
            <a:avLst/>
          </a:prstGeom>
          <a:ln w="1905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72768" y="3685032"/>
            <a:ext cx="28346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1E72"/>
                </a:solidFill>
                <a:latin typeface="Aptos"/>
              </a:rPr>
              <a:t>The team can review it</a:t>
            </a:r>
            <a:endParaRPr sz="14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43400" y="3685032"/>
            <a:ext cx="6720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The issue and relevant policy context remain available to the service team.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4672" y="4681728"/>
            <a:ext cx="475488" cy="475488"/>
          </a:xfrm>
          <a:prstGeom prst="ellipse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82312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72768" y="4636008"/>
            <a:ext cx="28346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1E72"/>
                </a:solidFill>
                <a:latin typeface="Aptos"/>
              </a:rPr>
              <a:t>A retry can be arranged</a:t>
            </a:r>
            <a:endParaRPr sz="14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43400" y="4636008"/>
            <a:ext cx="6720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Eligible messages can be sent again after review.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02717" y="597611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58890"/>
            <a:ext cx="1005840" cy="429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A regular service routine keeps renewals moving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Behind the scenes, a few repeatable activities help customers get the right follow-up at the right time.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5420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4884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1675"/>
                </a:solidFill>
                <a:latin typeface="Aptos"/>
              </a:rPr>
              <a:t>01</a:t>
            </a:r>
            <a:endParaRPr sz="1300" b="1" i="0">
              <a:solidFill>
                <a:srgbClr val="9516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267919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E1E72"/>
                </a:solidFill>
                <a:latin typeface="Aptos"/>
              </a:rPr>
              <a:t>Look ahead</a:t>
            </a:r>
            <a:endParaRPr sz="13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313639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333"/>
                </a:solidFill>
                <a:latin typeface="Aptos"/>
              </a:rPr>
              <a:t>Identify policies approaching their renewal date.</a:t>
            </a:r>
            <a:endParaRPr sz="10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6976" y="265176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38728" y="1920240"/>
            <a:ext cx="25420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14884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1675"/>
                </a:solidFill>
                <a:latin typeface="Aptos"/>
              </a:rPr>
              <a:t>02</a:t>
            </a:r>
            <a:endParaRPr sz="1300" b="1" i="0">
              <a:solidFill>
                <a:srgbClr val="95167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21608" y="267919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E1E72"/>
                </a:solidFill>
                <a:latin typeface="Aptos"/>
              </a:rPr>
              <a:t>Prepare reminders</a:t>
            </a:r>
            <a:endParaRPr sz="13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21608" y="313639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333"/>
                </a:solidFill>
                <a:latin typeface="Aptos"/>
              </a:rPr>
              <a:t>Select the message that matches how close renewal is.</a:t>
            </a:r>
            <a:endParaRPr sz="10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17336" y="265176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19088" y="1920240"/>
            <a:ext cx="25420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14884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1675"/>
                </a:solidFill>
                <a:latin typeface="Aptos"/>
              </a:rPr>
              <a:t>03</a:t>
            </a:r>
            <a:endParaRPr sz="1300" b="1" i="0">
              <a:solidFill>
                <a:srgbClr val="95167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01968" y="267919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E1E72"/>
                </a:solidFill>
                <a:latin typeface="Aptos"/>
              </a:rPr>
              <a:t>Follow delivery</a:t>
            </a:r>
            <a:endParaRPr sz="13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01968" y="313639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333"/>
                </a:solidFill>
                <a:latin typeface="Aptos"/>
              </a:rPr>
              <a:t>Record successful and unsuccessful message attempts.</a:t>
            </a:r>
            <a:endParaRPr sz="10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97696" y="265176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99448" y="1920240"/>
            <a:ext cx="25420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14884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1675"/>
                </a:solidFill>
                <a:latin typeface="Aptos"/>
              </a:rPr>
              <a:t>04</a:t>
            </a:r>
            <a:endParaRPr sz="1300" b="1" i="0">
              <a:solidFill>
                <a:srgbClr val="95167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82328" y="267919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E1E72"/>
                </a:solidFill>
                <a:latin typeface="Aptos"/>
              </a:rPr>
              <a:t>Review the day</a:t>
            </a:r>
            <a:endParaRPr sz="13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82328" y="313639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333"/>
                </a:solidFill>
                <a:latin typeface="Aptos"/>
              </a:rPr>
              <a:t>Summarize renewals and highlight messages that need attention.</a:t>
            </a:r>
            <a:endParaRPr sz="10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4279392"/>
            <a:ext cx="10844784" cy="1325880"/>
          </a:xfrm>
          <a:prstGeom prst="roundRect">
            <a:avLst>
              <a:gd name="adj" fmla="val 12000"/>
            </a:avLst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3542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What customers notice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956048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EDF7"/>
                </a:solidFill>
                <a:latin typeface="Aptos"/>
              </a:rPr>
              <a:t>More timely reminders, fewer missed follow-ups and a service team with a clearer view of where help is needed.</a:t>
            </a:r>
            <a:endParaRPr sz="1200" b="0" i="0">
              <a:solidFill>
                <a:srgbClr val="F3EDF7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13549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82385"/>
            <a:ext cx="1005840" cy="405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E1E72"/>
                </a:solidFill>
                <a:latin typeface="Aptos"/>
              </a:rPr>
              <a:t>The renewal job checks who needs a reminder</a:t>
            </a:r>
            <a:endParaRPr sz="25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F6A78"/>
                </a:solidFill>
                <a:latin typeface="Aptos"/>
              </a:rPr>
              <a:t>A scheduled review matches each policy to the right point in its renewal journey.</a:t>
            </a:r>
            <a:endParaRPr sz="1150" b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04672" y="1819656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11095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24128" y="2276856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36192" y="1764792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Review policies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0520" y="1755648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Checks policies that may be approaching renewal.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70632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136392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" y="2624328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Choose the reminder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0520" y="2615184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Uses 30-, 15- and 7-day reminders as the policy end date gets closer.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04672" y="3538727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30168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024128" y="3995927"/>
            <a:ext cx="0" cy="347473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36192" y="3483863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Follow up during grace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60520" y="3474720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An overdue reminder is eligible only during the 15-day grace period after expiry.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4672" y="4398264"/>
            <a:ext cx="438912" cy="438912"/>
          </a:xfrm>
          <a:prstGeom prst="ellipse">
            <a:avLst/>
          </a:prstGeom>
          <a:solidFill>
            <a:srgbClr val="951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89704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6192" y="4343400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Prepare customer messages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0520" y="4334256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Moves active policies to renewal due, avoids repeating the same reminder and prepares email/text follow-up.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pic>
        <p:nvPicPr>
          <p:cNvPr id="27" name="Picture 26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31585"/>
            <a:ext cx="1005840" cy="456565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484632" y="575195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E1E72"/>
                </a:solidFill>
                <a:latin typeface="Aptos"/>
              </a:rPr>
              <a:t>The lapse job applies the grace-period rule</a:t>
            </a:r>
            <a:endParaRPr sz="25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F6A78"/>
                </a:solidFill>
                <a:latin typeface="Aptos"/>
              </a:rPr>
              <a:t>It separates policies still eligible for follow-up from policies whose renewal window has ended.</a:t>
            </a:r>
            <a:endParaRPr sz="1150" b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04672" y="1819656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11095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24128" y="2276856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36192" y="1764792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Check expired policies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0520" y="1755648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Reviews policies whose end date has passed.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70632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136392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" y="2624328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Respect the grace period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0520" y="2615184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Leaves a policy eligible for renewal follow-up during its 15-day grace period.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04672" y="3538727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30168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024128" y="3995927"/>
            <a:ext cx="0" cy="347473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36192" y="3483863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Mark after the deadline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60520" y="3474720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After the grace period, changes the policy status to lapsed.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4672" y="4398264"/>
            <a:ext cx="438912" cy="438912"/>
          </a:xfrm>
          <a:prstGeom prst="ellipse">
            <a:avLst/>
          </a:prstGeom>
          <a:solidFill>
            <a:srgbClr val="A8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89704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6192" y="4343400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Keep the outcome clear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0520" y="4334256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The updated status helps customers and the service team understand that the renewal window has passed.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pic>
        <p:nvPicPr>
          <p:cNvPr id="27" name="Picture 26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29680"/>
            <a:ext cx="1005840" cy="458470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567182" y="589800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E1E72"/>
                </a:solidFill>
                <a:latin typeface="Aptos"/>
              </a:rPr>
              <a:t>The daily report turns activity into a clear summary</a:t>
            </a:r>
            <a:endParaRPr sz="25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F6A78"/>
                </a:solidFill>
                <a:latin typeface="Aptos"/>
              </a:rPr>
              <a:t>A dated report brings policy status and reminder activity together for service-team follow-up.</a:t>
            </a:r>
            <a:endParaRPr sz="1150" b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04672" y="1819656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11095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24128" y="2276856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36192" y="1764792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Summarize policy status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0520" y="1755648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Counts policies that are active, approaching renewal, renewed or lapsed.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70632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136392"/>
            <a:ext cx="0" cy="347472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" y="2624328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Review reminder results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0520" y="2615184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Groups reminder activity by timing and outcome, including successful attempts and delivery problems.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04672" y="3538727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30168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024128" y="3995927"/>
            <a:ext cx="0" cy="347473"/>
          </a:xfrm>
          <a:prstGeom prst="line">
            <a:avLst/>
          </a:prstGeom>
          <a:ln w="17780">
            <a:solidFill>
              <a:srgbClr val="CF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36192" y="3483863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Highlight follow-up needs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60520" y="3474720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Shows messages needing attention, including items held for service-team review and the reason.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4672" y="4398264"/>
            <a:ext cx="438912" cy="438912"/>
          </a:xfrm>
          <a:prstGeom prst="ellipse">
            <a:avLst/>
          </a:prstGeom>
          <a:solidFill>
            <a:srgbClr val="951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89704"/>
            <a:ext cx="438912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6192" y="4343400"/>
            <a:ext cx="27432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1E72"/>
                </a:solidFill>
                <a:latin typeface="Aptos"/>
              </a:rPr>
              <a:t>Support the daily review</a:t>
            </a:r>
            <a:endParaRPr sz="13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0520" y="4334256"/>
            <a:ext cx="71323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2333"/>
                </a:solidFill>
                <a:latin typeface="Aptos"/>
              </a:rPr>
              <a:t>Creates a dated summary the team can use to spot activity and decide where follow-up may be needed.</a:t>
            </a:r>
            <a:endParaRPr sz="1050" b="0">
              <a:solidFill>
                <a:srgbClr val="282333"/>
              </a:solidFill>
              <a:latin typeface="Aptos"/>
            </a:endParaRPr>
          </a:p>
        </p:txBody>
      </p:sp>
      <p:pic>
        <p:nvPicPr>
          <p:cNvPr id="27" name="Picture 26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56350"/>
            <a:ext cx="1005840" cy="431800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557657" y="5751957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Know what your policy status means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Simple status labels help customers understand where they are in the renewal journey.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9728" cy="1298448"/>
          </a:xfrm>
          <a:prstGeom prst="roundRect">
            <a:avLst>
              <a:gd name="adj" fmla="val 12000"/>
            </a:avLst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8765D"/>
                </a:solidFill>
                <a:latin typeface="Aptos"/>
              </a:rPr>
              <a:t>Active</a:t>
            </a:r>
            <a:endParaRPr sz="1500" b="1" i="0">
              <a:solidFill>
                <a:srgbClr val="28765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Your cover is currently in force.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45352" y="1874519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109728" cy="1298448"/>
          </a:xfrm>
          <a:prstGeom prst="roundRect">
            <a:avLst>
              <a:gd name="adj" fmla="val 12000"/>
            </a:avLst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E1E72"/>
                </a:solidFill>
                <a:latin typeface="Aptos"/>
              </a:rPr>
              <a:t>Renewal coming up</a:t>
            </a:r>
            <a:endParaRPr sz="1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60" y="2542032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Your end date is approaching; a reminder may be due.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" y="3502152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3502152"/>
            <a:ext cx="109728" cy="1298448"/>
          </a:xfrm>
          <a:prstGeom prst="roundRect">
            <a:avLst>
              <a:gd name="adj" fmla="val 12000"/>
            </a:avLst>
          </a:prstGeom>
          <a:solidFill>
            <a:srgbClr val="34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3075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B92"/>
                </a:solidFill>
                <a:latin typeface="Aptos"/>
              </a:rPr>
              <a:t>Renewed</a:t>
            </a:r>
            <a:endParaRPr sz="1500" b="1" i="0">
              <a:solidFill>
                <a:srgbClr val="345B9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169664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The renewal has been recorded and the next policy period is in place.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5352" y="3502152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FC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5352" y="3502152"/>
            <a:ext cx="109728" cy="1298448"/>
          </a:xfrm>
          <a:prstGeom prst="roundRect">
            <a:avLst>
              <a:gd name="adj" fmla="val 12000"/>
            </a:avLst>
          </a:prstGeom>
          <a:solidFill>
            <a:srgbClr val="A8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3075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D3A"/>
                </a:solidFill>
                <a:latin typeface="Aptos"/>
              </a:rPr>
              <a:t>Lapsed</a:t>
            </a:r>
            <a:endParaRPr sz="1500" b="1" i="0">
              <a:solidFill>
                <a:srgbClr val="A84D3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7960" y="4169664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The allowed renewal period has passed. Contact the service team to understand your options.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30352" y="591642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18885"/>
            <a:ext cx="1005840" cy="469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A clearer view helps the service team respond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A daily summary brings the important renewal activity together in one place.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59536" y="1892807"/>
            <a:ext cx="384048" cy="38404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75104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44752" y="1783080"/>
            <a:ext cx="9921240" cy="658368"/>
          </a:xfrm>
          <a:prstGeom prst="roundRect">
            <a:avLst>
              <a:gd name="adj" fmla="val 12000"/>
            </a:avLst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9202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82333"/>
                </a:solidFill>
                <a:latin typeface="Aptos"/>
              </a:rPr>
              <a:t>Policies nearing renewal</a:t>
            </a:r>
            <a:endParaRPr sz="12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1874519"/>
            <a:ext cx="619963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See which customers may need a reminder soon.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59536" y="2752344"/>
            <a:ext cx="384048" cy="38404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83463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44752" y="2642615"/>
            <a:ext cx="9921240" cy="658368"/>
          </a:xfrm>
          <a:prstGeom prst="roundRect">
            <a:avLst>
              <a:gd name="adj" fmla="val 12000"/>
            </a:avLst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779775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82333"/>
                </a:solidFill>
                <a:latin typeface="Aptos"/>
              </a:rPr>
              <a:t>Messages sent successfully</a:t>
            </a:r>
            <a:endParaRPr sz="12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0" y="2734056"/>
            <a:ext cx="619963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Understand which reminders reached customers.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59536" y="3611880"/>
            <a:ext cx="384048" cy="384048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69417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444752" y="3502152"/>
            <a:ext cx="9921240" cy="658368"/>
          </a:xfrm>
          <a:prstGeom prst="roundRect">
            <a:avLst>
              <a:gd name="adj" fmla="val 12000"/>
            </a:avLst>
          </a:prstGeom>
          <a:solidFill>
            <a:srgbClr val="FC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63931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82333"/>
                </a:solidFill>
                <a:latin typeface="Aptos"/>
              </a:rPr>
              <a:t>Messages needing attention</a:t>
            </a:r>
            <a:endParaRPr sz="12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3593592"/>
            <a:ext cx="619963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Spot delivery issues that may need review or another attempt.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59536" y="4471416"/>
            <a:ext cx="384048" cy="384048"/>
          </a:xfrm>
          <a:prstGeom prst="ellipse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55371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solidFill/>
              </a:rPr>
              <a:t>&gt;</a:t>
            </a:r>
            <a:endParaRPr>
              <a:solidFill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444752" y="4361688"/>
            <a:ext cx="9921240" cy="658368"/>
          </a:xfrm>
          <a:prstGeom prst="roundRect">
            <a:avLst>
              <a:gd name="adj" fmla="val 12000"/>
            </a:avLst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4988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82333"/>
                </a:solidFill>
                <a:latin typeface="Aptos"/>
              </a:rPr>
              <a:t>Renewals completed or overdue</a:t>
            </a:r>
            <a:endParaRPr sz="1200" b="1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46320" y="4453127"/>
            <a:ext cx="619963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82333"/>
                </a:solidFill>
                <a:latin typeface="Aptos"/>
              </a:rPr>
              <a:t>Keep an eye on progress and follow up where appropriate.</a:t>
            </a:r>
            <a:endParaRPr sz="105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444752" y="5440680"/>
            <a:ext cx="9921240" cy="502920"/>
          </a:xfrm>
          <a:prstGeom prst="roundRect">
            <a:avLst>
              <a:gd name="adj" fmla="val 12000"/>
            </a:avLst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4208" y="5559552"/>
            <a:ext cx="9464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The result: fewer blind spots and a more informed follow-up when a customer needs support.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15391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63970"/>
            <a:ext cx="1005840" cy="424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E1E72"/>
                </a:solidFill>
                <a:latin typeface="Aptos"/>
              </a:rPr>
              <a:t>A customer story brings the experience to life</a:t>
            </a:r>
            <a:endParaRPr sz="250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6A78"/>
                </a:solidFill>
                <a:latin typeface="Aptos"/>
              </a:rPr>
              <a:t>Walk through one policy from an early reminder to a clear renewal outcome.</a:t>
            </a:r>
            <a:endParaRPr sz="1150" b="0" i="0">
              <a:solidFill>
                <a:srgbClr val="6F6A78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115568" y="2057400"/>
            <a:ext cx="0" cy="3374136"/>
          </a:xfrm>
          <a:prstGeom prst="line">
            <a:avLst/>
          </a:prstGeom>
          <a:ln w="25400">
            <a:solidFill>
              <a:srgbClr val="D1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96112" y="1792224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64208" y="1773936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1E72"/>
                </a:solidFill>
                <a:latin typeface="Aptos"/>
              </a:rPr>
              <a:t>30 days before</a:t>
            </a:r>
            <a:endParaRPr sz="12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7639" y="1773936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A first heads-up arrives. The customer has time to review the policy.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96112" y="2743200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4378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4208" y="2724912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1E72"/>
                </a:solidFill>
                <a:latin typeface="Aptos"/>
              </a:rPr>
              <a:t>15 days before</a:t>
            </a:r>
            <a:endParaRPr sz="12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7639" y="2724912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A follow-up makes the action window clear and points to help.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96112" y="3694175"/>
            <a:ext cx="438912" cy="438912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94759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64208" y="3675887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1E72"/>
                </a:solidFill>
                <a:latin typeface="Aptos"/>
              </a:rPr>
              <a:t>7 days before</a:t>
            </a:r>
            <a:endParaRPr sz="12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77639" y="3675887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A final pre-expiry reminder emphasizes that the date is close.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96112" y="4645152"/>
            <a:ext cx="438912" cy="438912"/>
          </a:xfrm>
          <a:prstGeom prst="ellipse">
            <a:avLst/>
          </a:prstGeom>
          <a:solidFill>
            <a:srgbClr val="28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745736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  <a:endParaRPr sz="1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4208" y="462686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1E72"/>
                </a:solidFill>
                <a:latin typeface="Aptos"/>
              </a:rPr>
              <a:t>After renewal</a:t>
            </a:r>
            <a:endParaRPr sz="1250" b="1" i="0">
              <a:solidFill>
                <a:srgbClr val="4E1E7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77639" y="4626864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82333"/>
                </a:solidFill>
                <a:latin typeface="Aptos"/>
              </a:rPr>
              <a:t>A confirmation closes the loop; delivery issues can be reviewed by the team.</a:t>
            </a:r>
            <a:endParaRPr sz="1100" b="0" i="0">
              <a:solidFill>
                <a:srgbClr val="282333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664208" y="5650992"/>
            <a:ext cx="9098280" cy="420624"/>
          </a:xfrm>
          <a:prstGeom prst="roundRect">
            <a:avLst>
              <a:gd name="adj" fmla="val 12000"/>
            </a:avLst>
          </a:prstGeom>
          <a:solidFill>
            <a:srgbClr val="EE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733288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1E72"/>
                </a:solidFill>
                <a:latin typeface="Aptos"/>
              </a:rPr>
              <a:t>Show the reminder, the policy status and how the service team sees an unsuccessful delivery.</a:t>
            </a:r>
            <a:endParaRPr sz="1000" b="1" i="0">
              <a:solidFill>
                <a:srgbClr val="4E1E72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30352" y="6273292"/>
            <a:ext cx="11137392" cy="0"/>
          </a:xfrm>
          <a:prstGeom prst="line">
            <a:avLst/>
          </a:prstGeom>
          <a:ln w="8890">
            <a:solidFill>
              <a:srgbClr val="DE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402070"/>
            <a:ext cx="1005840" cy="386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E1E72"/>
                </a:solidFill>
                <a:latin typeface="Aptos"/>
              </a:rPr>
              <a:t>Application APIs at a glance</a:t>
            </a:r>
            <a:endParaRPr sz="26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017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06B79"/>
                </a:solidFill>
                <a:latin typeface="Aptos"/>
              </a:rPr>
              <a:t>Available operations for policies, customer-service visibility and notification recovery.</a:t>
            </a:r>
            <a:endParaRPr sz="1120" b="0">
              <a:solidFill>
                <a:srgbClr val="706B7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3493008" cy="4078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3493008" cy="91440"/>
          </a:xfrm>
          <a:prstGeom prst="rect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3127248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E1E72"/>
                </a:solidFill>
                <a:latin typeface="Aptos"/>
              </a:rPr>
              <a:t>POLICIES &amp; RENEWALS</a:t>
            </a:r>
            <a:endParaRPr sz="95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30352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92324"/>
            <a:ext cx="530352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POST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53312" y="2564891"/>
            <a:ext cx="256946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/policies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889503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Create a policy and validate customer, contact and cover details.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465576"/>
            <a:ext cx="3163824" cy="7315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584448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6452"/>
            <a:ext cx="475488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GET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8448" y="3589020"/>
            <a:ext cx="2624327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/policies/{policyNumber}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View policy details, current status and reminder history.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4489704"/>
            <a:ext cx="3163824" cy="7315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608576"/>
            <a:ext cx="530352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0580"/>
            <a:ext cx="530352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PUT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4613148"/>
            <a:ext cx="256946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E1E72"/>
                </a:solidFill>
                <a:latin typeface="Aptos"/>
              </a:rPr>
              <a:t>/policies/{policyNumber}/renew</a:t>
            </a:r>
            <a:endParaRPr sz="75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Renew an eligible policy and record the new cover period.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52544" y="1847088"/>
            <a:ext cx="3493008" cy="4078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2544" y="1847088"/>
            <a:ext cx="3493008" cy="91440"/>
          </a:xfrm>
          <a:prstGeom prst="rect">
            <a:avLst/>
          </a:prstGeom>
          <a:solidFill>
            <a:srgbClr val="951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2103120"/>
            <a:ext cx="3127248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E1E72"/>
                </a:solidFill>
                <a:latin typeface="Aptos"/>
              </a:rPr>
              <a:t>DASHBOARD &amp; REPORTING</a:t>
            </a:r>
            <a:endParaRPr sz="95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17136" y="2560320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592324"/>
            <a:ext cx="475488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GET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84063" y="2564891"/>
            <a:ext cx="2624328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/dashboard/summary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17136" y="2889503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View policy totals, renewal progress and notification outcomes.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17136" y="3465576"/>
            <a:ext cx="3163824" cy="7315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17136" y="3584448"/>
            <a:ext cx="530352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3616452"/>
            <a:ext cx="530352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POST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38927" y="3589020"/>
            <a:ext cx="256946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E1E72"/>
                </a:solidFill>
                <a:latin typeface="Aptos"/>
              </a:rPr>
              <a:t>/reports/daily?date=YYYY-MM-DD</a:t>
            </a:r>
            <a:endParaRPr sz="75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17136" y="3913632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Generate and download the selected day's CSV activity report.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17136" y="4489704"/>
            <a:ext cx="3163824" cy="7315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17136" y="4608576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4640580"/>
            <a:ext cx="475488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GET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84063" y="4613148"/>
            <a:ext cx="2624328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/schedulers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17136" y="4937760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View scheduled jobs and their next planned run.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38160" y="1847088"/>
            <a:ext cx="3493008" cy="4078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847088"/>
            <a:ext cx="3493008" cy="91440"/>
          </a:xfrm>
          <a:prstGeom prst="rect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103120"/>
            <a:ext cx="3127248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E1E72"/>
                </a:solidFill>
                <a:latin typeface="Aptos"/>
              </a:rPr>
              <a:t>NOTIFICATION RECOVERY</a:t>
            </a:r>
            <a:endParaRPr sz="95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302752" y="2560320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2592324"/>
            <a:ext cx="475488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GET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69680" y="2564891"/>
            <a:ext cx="2624328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/dlq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02752" y="2889503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Review reminders that need service-team attention.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302752" y="3465576"/>
            <a:ext cx="3163824" cy="7315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02752" y="3584448"/>
            <a:ext cx="530352" cy="228600"/>
          </a:xfrm>
          <a:prstGeom prst="roundRect">
            <a:avLst>
              <a:gd name="adj" fmla="val 12000"/>
            </a:avLst>
          </a:prstGeom>
          <a:solidFill>
            <a:srgbClr val="F2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616452"/>
            <a:ext cx="530352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51675"/>
                </a:solidFill>
                <a:latin typeface="Aptos"/>
              </a:rPr>
              <a:t>PUT</a:t>
            </a:r>
            <a:endParaRPr sz="720" b="1">
              <a:solidFill>
                <a:srgbClr val="951675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24544" y="3589020"/>
            <a:ext cx="256946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E1E72"/>
                </a:solidFill>
                <a:latin typeface="Aptos"/>
              </a:rPr>
              <a:t>/dlq/{id}/requeue</a:t>
            </a:r>
            <a:endParaRPr sz="800" b="1">
              <a:solidFill>
                <a:srgbClr val="4E1E72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02752" y="3913632"/>
            <a:ext cx="3163824" cy="5394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292333"/>
                </a:solidFill>
                <a:latin typeface="Aptos"/>
              </a:rPr>
              <a:t>Re-queue a selected reminder for another delivery attempt.</a:t>
            </a:r>
            <a:endParaRPr sz="870" b="0">
              <a:solidFill>
                <a:srgbClr val="292333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66928" y="6199632"/>
            <a:ext cx="11064240" cy="10972"/>
          </a:xfrm>
          <a:prstGeom prst="rect">
            <a:avLst/>
          </a:prstGeom>
          <a:solidFill>
            <a:srgbClr val="E8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6346190"/>
            <a:ext cx="1005840" cy="3663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46304"/>
            <a:ext cx="3383280" cy="3383280"/>
          </a:xfrm>
          <a:prstGeom prst="ellipse">
            <a:avLst/>
          </a:prstGeom>
          <a:solidFill>
            <a:srgbClr val="4E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530352"/>
            <a:ext cx="2606040" cy="2606040"/>
          </a:xfrm>
          <a:prstGeom prst="ellipse">
            <a:avLst/>
          </a:prstGeom>
          <a:solidFill>
            <a:srgbClr val="761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530352"/>
            <a:ext cx="60350" cy="3401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A renewal journey customers can follow.</a:t>
            </a:r>
            <a:endParaRPr sz="3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7132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AE3F0"/>
                </a:solidFill>
                <a:latin typeface="Aptos"/>
              </a:rPr>
              <a:t>Timely reminders. Clear next steps. Visible follow-up when a message needs attention.</a:t>
            </a:r>
            <a:endParaRPr sz="1600" b="0" i="0">
              <a:solidFill>
                <a:srgbClr val="EAE3F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773168"/>
            <a:ext cx="4251960" cy="0"/>
          </a:xfrm>
          <a:prstGeom prst="line">
            <a:avLst/>
          </a:prstGeom>
          <a:ln w="13970">
            <a:solidFill>
              <a:srgbClr val="8D6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07492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Thank you</a:t>
            </a:r>
            <a:endParaRPr sz="20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30352" y="6473952"/>
            <a:ext cx="11137392" cy="0"/>
          </a:xfrm>
          <a:prstGeom prst="line">
            <a:avLst/>
          </a:prstGeom>
          <a:ln w="8890">
            <a:solidFill>
              <a:srgbClr val="D8C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835640" y="65471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16 / 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29768"/>
            <a:ext cx="22219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ulcrum-digital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75488"/>
            <a:ext cx="1993392" cy="531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9042</Words>
  <Application>WPS Presentation</Application>
  <PresentationFormat>On-screen Show (4:3)</PresentationFormat>
  <Paragraphs>541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Renewal Experience | Fulcrum Digital</dc:title>
  <dc:creator>Fulcrum Digital</dc:creator>
  <cp:keywords>insurance, policy renewal, customer experience</cp:keywords>
  <dc:description>generated using python-pptx</dc:description>
  <dc:subject>Customer-focused overview of the complete insurance policy renewal application</dc:subject>
  <cp:lastModifiedBy>WPS_1784189836</cp:lastModifiedBy>
  <cp:revision>2</cp:revision>
  <dcterms:created xsi:type="dcterms:W3CDTF">2013-01-27T09:14:00Z</dcterms:created>
  <dcterms:modified xsi:type="dcterms:W3CDTF">2026-10-29T02:59:55Z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4E93820CE0A647F7AB17FF7534EBF4FB_12</vt:lpwstr>
  </property>
  <property fmtid="{D5CDD505-2E9C-101B-9397-08002B2CF9AE}" pid="3" name="KSOProductBuildVer">
    <vt:lpwstr>1033-12.1.0.28103</vt:lpwstr>
  </property>
</Properties>
</file>